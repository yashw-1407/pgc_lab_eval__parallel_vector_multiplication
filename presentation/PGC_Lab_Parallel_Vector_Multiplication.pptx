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99369b2-cf51-c8e5-ebd0-16684cf35d57}">
          <p14:sldIdLst>
            <p14:sldId id="256"/>
            <p14:sldId id="257"/>
            <p14:sldId id="258"/>
          </p14:sldIdLst>
        </p14:section>
        <p14:section name="Design" id="{657871de-c0e1-1d4b-3393-d08b270e7efc}">
          <p14:sldIdLst>
            <p14:sldId id="259"/>
            <p14:sldId id="260"/>
            <p14:sldId id="261"/>
          </p14:sldIdLst>
        </p14:section>
        <p14:section name="Implementation" id="{8ffe2404-ee44-0af6-475d-5e76732c541a}">
          <p14:sldIdLst>
            <p14:sldId id="262"/>
            <p14:sldId id="263"/>
            <p14:sldId id="264"/>
          </p14:sldIdLst>
        </p14:section>
        <p14:section name="Results" id="{7772f671-0fb8-621c-a5c6-433216891528}">
          <p14:sldIdLst>
            <p14:sldId id="265"/>
            <p14:sldId id="266"/>
            <p14:sldId id="267"/>
          </p14:sldIdLst>
        </p14:section>
        <p14:section name="Analysis" id="{9f7004ec-2a08-481f-6cae-fe777d791892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11111"/>
                </a:solidFill>
                <a:latin typeface="+mn-lt"/>
              </a:rPr>
              <a:t>Speedup: actual vs ideal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speedup</c:v>
                </c:pt>
              </c:strCache>
            </c:strRef>
          </c:tx>
          <c:spPr>
            <a:solidFill>
              <a:srgbClr val="C8102E"/>
            </a:solidFill>
            <a:ln w="31750" cap="flat">
              <a:solidFill>
                <a:srgbClr val="C810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2.8</c:v>
                </c:pt>
                <c:pt idx="2">
                  <c:v>5.46</c:v>
                </c:pt>
                <c:pt idx="3">
                  <c:v>5.85</c:v>
                </c:pt>
                <c:pt idx="4">
                  <c:v>5.03</c:v>
                </c:pt>
                <c:pt idx="5">
                  <c:v>5.17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 (linear)</c:v>
                </c:pt>
              </c:strCache>
            </c:strRef>
          </c:tx>
          <c:spPr>
            <a:solidFill>
              <a:srgbClr val="111111"/>
            </a:solidFill>
            <a:ln w="31750" cap="flat">
              <a:solidFill>
                <a:srgbClr val="11111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11111"/>
              </a:solidFill>
              <a:ln w="9525" cap="flat">
                <a:solidFill>
                  <a:srgbClr val="11111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11111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111111"/>
                    </a:solidFill>
                    <a:latin typeface="+mn-lt"/>
                  </a:rPr>
                  <a:t>Threads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1111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1111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11111"/>
                </a:solidFill>
                <a:latin typeface="+mn-lt"/>
              </a:rPr>
              <a:t>Efficiency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Efficiency (%)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1111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140.3</c:v>
                </c:pt>
                <c:pt idx="2">
                  <c:v>136.6</c:v>
                </c:pt>
                <c:pt idx="3">
                  <c:v>97.5</c:v>
                </c:pt>
                <c:pt idx="4">
                  <c:v>62.8</c:v>
                </c:pt>
                <c:pt idx="5">
                  <c:v>32.3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1111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111111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111111"/>
                    </a:solidFill>
                    <a:latin typeface="+mn-lt"/>
                  </a:rPr>
                  <a:t>Threads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11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speed up an element-wise multiplication of two vectors with 100 million elements using OpenMP in C, and measure how performance changes from 1 to 16 threads. Introduce the four team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aim, then walk through the six objectives. Each objective maps to a later slide: problem and design (3 to 6), code and runs (7 to 9), results (10 to 12), analysis (13 to 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Given two vectors A and B with 100 million doubles each, compute C[i] = A[i] * B[i]. It is O(N) and simple, but the data is large: about 2.4 GB across the three vectors. Sequentially one core does every multiplication, so we want to split the work across 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four steps. Only one worker, the main thread, executes the loop. Timing uses clock_gettime with CLOCK_MONOTONIC and only wraps the multiplication loop, not the initialization. This 0.692445 s is the baseline for every speedup number later. Viva: what is the time complexity? O(N).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pragma tells the compiler to divide the 100 million iterations into equal chunks, one per thread. With 4 threads each thread gets 25 million. Shared memory model: every thread reads A and B and writes its own slice of C, so no messages and no locks are needed. Viva: why no race condition? Each iteration writes a different C[i].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Environment: WSL2 Ubuntu on Windows, GCC with built-in OpenMP, Python for plots. Key design decision: no input files. Generating data in memory avoids disk I/O, so we measure only the computation. Initialization happens before the timer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parts of both programs. Pink lines in the OpenMP file are the differences: the user enters the thread count (1 to 32 allowed), omp_set_num_threads applies it, the pragma parallelizes the loop, and omp_get_wtime measures wall-clock time of the parallel region. Full code is in the src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 with gcc -O2 and run. The output shows the 100 million element size, execution time 0.692445 seconds, and C[0] = 2.00 as a correctness check since A[0] is 1.0 and B[0] is 2.0.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-fopenmp flag is essential: without it the pragma is ignored and the code runs on one thread. The program is interactive: we enter 1, 2, 4, 6, 8 and 16 threads one by one. Times shown: 2 threads 0.246625 s, 4 threads 0.126643 s, 6 threads 0.118263 s, 8 threads 0.137638 s, 16 threads 0.133875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table row by row. Time drops from 0.69 s to 0.118 s at 6 threads, a 5.85x speedup with 97.5% efficiency. Beyond 6 threads the time goes back up slightly (0.1376 s at 8 and 0.1339 s at 16). Efficiency above 100% at 2 and 4 threads is super-linear: our report puts it down to a hyperthreading anomaly. Each thread count was run once, so small timing noise is possible. Speedup = sequential time divided by parallel time; efficiency = speedup divided by 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plots were generated automatically from the CSV with a Python script. Execution time falls quickly then flattens. Speedup climbs to about 5.85x at 6 threads and then dips. Efficiency drops steeply after 6 threads, which signals diminishing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red line is our measured speedup, the black line is the ideal where N threads gives N times speedup. We track or beat ideal up to 4 threads, match it at 6, then fall away. Right: efficiency. Above 100% at 2 and 4 threads is super-linear, reported as a hyperthreading anomaly in our README. At 16 threads only 32.3% of the thread capacity is being used effectively.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reasons for the plateau. First, memory bound: each run moves roughly 2.4 GB (1.6 GB read, 0.8 GB written). Our own estimate of effective bandwidth rises from about 3.5 GB/s at one thread to about 20 GB/s at 6 threads, then stays at 17 to 18 GB/s for 8 and 16 threads. That flat ceiling is why more threads do not help. Second, overhead of creating and synchronizing threads on a job that takes about 0.1 s. Amdahl's Law: speedup is limited by whatever cannot be parallelized or sped up, here memory access. The bandwidth numbers are an approximation we calculated, not a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Summarize: parallelism with OpenMP is highly effective, best at 6 threads, and scaling is limited by memory bandwidth and thread overhead. Future scope items are suggestions beyond the lab: averaging multiple runs, scheduling options, SIMD, GPU or MPI comparison, and hardware with more memory bandwidth.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repeating the headline result: 100 million elements, 5.85x speedup at 6 threads, runtime from 0.69 s to 0.12 s. Invite questions. Likely viva questions: why does 16 threads not give 16x (memory bound plus overhead), what does -fopenmp do (enables pragmas and links the runtime), why generate data in memory (avoid disk I/O), how are speedup and efficiency defined.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Shape 1"/>
          <p:cNvSpPr/>
          <p:nvPr/>
        </p:nvSpPr>
        <p:spPr>
          <a:xfrm>
            <a:off x="6812280" y="228600"/>
            <a:ext cx="1920240" cy="566928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4" name="Image 0" descr="/home/claude/wor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301752"/>
            <a:ext cx="1737360" cy="4133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3" name="Image 0" descr="/home/claude/wor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82880"/>
            <a:ext cx="1737360" cy="41330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960120"/>
            <a:ext cx="822960" cy="5486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Parallel Vector Multiplication using OpenMP</a:t>
            </a:r>
            <a:endParaRPr lang="en-US" sz="9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1111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PGC LAB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Vector Multiplication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OpenMP</a:t>
            </a:r>
            <a:endParaRPr lang="en-US" sz="3600" dirty="0"/>
          </a:p>
        </p:txBody>
      </p:sp>
      <p:sp>
        <p:nvSpPr>
          <p:cNvPr id="4" name="titleRule"/>
          <p:cNvSpPr/>
          <p:nvPr/>
        </p:nvSpPr>
        <p:spPr>
          <a:xfrm>
            <a:off x="822960" y="2514600"/>
            <a:ext cx="109728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6974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multiplication of two 100-million-element vectors: sequential vs parallel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|   OpenMP   |   GCC -O2   |   WSL2 Ubuntu   |   Python + matplotlib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502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Yashwanth Reddy   |   Yash Raj   |   Abhinav Raj   |   Sushilendr Ekbote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Science (AI)  |  KLE Technological University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Aim &amp; Objectives</a:t>
            </a:r>
            <a:endParaRPr lang="en-US" sz="2600" dirty="0"/>
          </a:p>
        </p:txBody>
      </p:sp>
      <p:sp>
        <p:nvSpPr>
          <p:cNvPr id="3" name="aimBox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Parallelize the element-wise multiplication of two 100-million-element vectors using OpenMP, then measure execution time, speedup and efficiency for 1 to 16 threads.</a:t>
            </a:r>
            <a:endParaRPr lang="en-US" sz="1400" dirty="0"/>
          </a:p>
        </p:txBody>
      </p:sp>
      <p:sp>
        <p:nvSpPr>
          <p:cNvPr id="5" name="num1"/>
          <p:cNvSpPr/>
          <p:nvPr/>
        </p:nvSpPr>
        <p:spPr>
          <a:xfrm>
            <a:off x="457200" y="2377440"/>
            <a:ext cx="54864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377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row1"/>
          <p:cNvSpPr/>
          <p:nvPr/>
        </p:nvSpPr>
        <p:spPr>
          <a:xfrm>
            <a:off x="1005840" y="2377440"/>
            <a:ext cx="3474720" cy="594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2377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problem and the sequential baseline</a:t>
            </a:r>
            <a:endParaRPr lang="en-US" sz="1300" dirty="0"/>
          </a:p>
        </p:txBody>
      </p:sp>
      <p:sp>
        <p:nvSpPr>
          <p:cNvPr id="9" name="num2"/>
          <p:cNvSpPr/>
          <p:nvPr/>
        </p:nvSpPr>
        <p:spPr>
          <a:xfrm>
            <a:off x="4663440" y="2377440"/>
            <a:ext cx="54864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23774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row2"/>
          <p:cNvSpPr/>
          <p:nvPr/>
        </p:nvSpPr>
        <p:spPr>
          <a:xfrm>
            <a:off x="5212080" y="2377440"/>
            <a:ext cx="3474720" cy="594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23774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shared-memory parallel solution</a:t>
            </a:r>
            <a:endParaRPr lang="en-US" sz="1300" dirty="0"/>
          </a:p>
        </p:txBody>
      </p:sp>
      <p:sp>
        <p:nvSpPr>
          <p:cNvPr id="13" name="num3"/>
          <p:cNvSpPr/>
          <p:nvPr/>
        </p:nvSpPr>
        <p:spPr>
          <a:xfrm>
            <a:off x="457200" y="3154680"/>
            <a:ext cx="54864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1546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row3"/>
          <p:cNvSpPr/>
          <p:nvPr/>
        </p:nvSpPr>
        <p:spPr>
          <a:xfrm>
            <a:off x="1005840" y="3154680"/>
            <a:ext cx="3474720" cy="594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31546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it with OpenMP in C</a:t>
            </a:r>
            <a:endParaRPr lang="en-US" sz="1300" dirty="0"/>
          </a:p>
        </p:txBody>
      </p:sp>
      <p:sp>
        <p:nvSpPr>
          <p:cNvPr id="17" name="num4"/>
          <p:cNvSpPr/>
          <p:nvPr/>
        </p:nvSpPr>
        <p:spPr>
          <a:xfrm>
            <a:off x="4663440" y="3154680"/>
            <a:ext cx="54864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63440" y="31546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row4"/>
          <p:cNvSpPr/>
          <p:nvPr/>
        </p:nvSpPr>
        <p:spPr>
          <a:xfrm>
            <a:off x="5212080" y="3154680"/>
            <a:ext cx="3474720" cy="594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49240" y="31546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1, 2, 4, 6, 8 and 16 threads</a:t>
            </a:r>
            <a:endParaRPr lang="en-US" sz="1300" dirty="0"/>
          </a:p>
        </p:txBody>
      </p:sp>
      <p:sp>
        <p:nvSpPr>
          <p:cNvPr id="21" name="num5"/>
          <p:cNvSpPr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row5"/>
          <p:cNvSpPr/>
          <p:nvPr/>
        </p:nvSpPr>
        <p:spPr>
          <a:xfrm>
            <a:off x="1005840" y="3931920"/>
            <a:ext cx="3474720" cy="594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43000" y="39319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execution time, speedup and efficiency</a:t>
            </a:r>
            <a:endParaRPr lang="en-US" sz="1300" dirty="0"/>
          </a:p>
        </p:txBody>
      </p:sp>
      <p:sp>
        <p:nvSpPr>
          <p:cNvPr id="25" name="num6"/>
          <p:cNvSpPr/>
          <p:nvPr/>
        </p:nvSpPr>
        <p:spPr>
          <a:xfrm>
            <a:off x="4663440" y="3931920"/>
            <a:ext cx="548640" cy="5943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63440" y="39319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row6"/>
          <p:cNvSpPr/>
          <p:nvPr/>
        </p:nvSpPr>
        <p:spPr>
          <a:xfrm>
            <a:off x="5212080" y="3931920"/>
            <a:ext cx="3474720" cy="594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49240" y="393192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scaling stops (bottlenecks)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Problem Definition</a:t>
            </a:r>
            <a:endParaRPr lang="en-US" sz="2600" dirty="0"/>
          </a:p>
        </p:txBody>
      </p:sp>
      <p:sp>
        <p:nvSpPr>
          <p:cNvPr id="3" name="formulaBox"/>
          <p:cNvSpPr/>
          <p:nvPr/>
        </p:nvSpPr>
        <p:spPr>
          <a:xfrm>
            <a:off x="457200" y="1234440"/>
            <a:ext cx="4754880" cy="105156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C[i] = A[i] × B[i]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= 0 to N − 1,   N = 100,000,000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51460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on huge datasets is a classic HPC bottleneck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multiplication per element: an O(N) operation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core must do all 100 million multiplications, one after another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use parallel computing to cut the runtime</a:t>
            </a:r>
            <a:endParaRPr lang="en-US" sz="1400" dirty="0"/>
          </a:p>
        </p:txBody>
      </p:sp>
      <p:sp>
        <p:nvSpPr>
          <p:cNvPr id="7" name="stat0"/>
          <p:cNvSpPr/>
          <p:nvPr/>
        </p:nvSpPr>
        <p:spPr>
          <a:xfrm>
            <a:off x="5486400" y="1234440"/>
            <a:ext cx="320040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0" y="1307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in each vector</a:t>
            </a:r>
            <a:endParaRPr lang="en-US" sz="1200" dirty="0"/>
          </a:p>
        </p:txBody>
      </p:sp>
      <p:sp>
        <p:nvSpPr>
          <p:cNvPr id="10" name="stat1"/>
          <p:cNvSpPr/>
          <p:nvPr/>
        </p:nvSpPr>
        <p:spPr>
          <a:xfrm>
            <a:off x="5486400" y="2377440"/>
            <a:ext cx="320040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2450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2926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vectors: A, B (inputs) and C (output), all double</a:t>
            </a:r>
            <a:endParaRPr lang="en-US" sz="1200" dirty="0"/>
          </a:p>
        </p:txBody>
      </p:sp>
      <p:sp>
        <p:nvSpPr>
          <p:cNvPr id="13" name="stat2"/>
          <p:cNvSpPr/>
          <p:nvPr/>
        </p:nvSpPr>
        <p:spPr>
          <a:xfrm>
            <a:off x="5486400" y="3520440"/>
            <a:ext cx="320040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0" y="35935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2.4 GB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4069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RAM: 3 vectors × 100 M × 8 bytes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Sequential Algorithm</a:t>
            </a:r>
            <a:endParaRPr lang="en-US" sz="2600" dirty="0"/>
          </a:p>
        </p:txBody>
      </p:sp>
      <p:sp>
        <p:nvSpPr>
          <p:cNvPr id="3" name="num1"/>
          <p:cNvSpPr/>
          <p:nvPr/>
        </p:nvSpPr>
        <p:spPr>
          <a:xfrm>
            <a:off x="457200" y="1234440"/>
            <a:ext cx="502920" cy="6858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row1"/>
          <p:cNvSpPr/>
          <p:nvPr/>
        </p:nvSpPr>
        <p:spPr>
          <a:xfrm>
            <a:off x="960120" y="1234440"/>
            <a:ext cx="406908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234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A, B and C with malloc (N × 8 bytes each)</a:t>
            </a:r>
            <a:endParaRPr lang="en-US" sz="1300" dirty="0"/>
          </a:p>
        </p:txBody>
      </p:sp>
      <p:sp>
        <p:nvSpPr>
          <p:cNvPr id="7" name="num2"/>
          <p:cNvSpPr/>
          <p:nvPr/>
        </p:nvSpPr>
        <p:spPr>
          <a:xfrm>
            <a:off x="457200" y="2057400"/>
            <a:ext cx="502920" cy="6858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20574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row2"/>
          <p:cNvSpPr/>
          <p:nvPr/>
        </p:nvSpPr>
        <p:spPr>
          <a:xfrm>
            <a:off x="960120" y="2057400"/>
            <a:ext cx="406908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0574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A = 1.0, B = 2.0, C = 0.0</a:t>
            </a:r>
            <a:endParaRPr lang="en-US" sz="1300" dirty="0"/>
          </a:p>
        </p:txBody>
      </p:sp>
      <p:sp>
        <p:nvSpPr>
          <p:cNvPr id="11" name="num3"/>
          <p:cNvSpPr/>
          <p:nvPr/>
        </p:nvSpPr>
        <p:spPr>
          <a:xfrm>
            <a:off x="457200" y="2880360"/>
            <a:ext cx="502920" cy="6858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row3"/>
          <p:cNvSpPr/>
          <p:nvPr/>
        </p:nvSpPr>
        <p:spPr>
          <a:xfrm>
            <a:off x="960120" y="2880360"/>
            <a:ext cx="406908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28803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i = 0 to N−1 and compute C[i] = A[i] × B[i]</a:t>
            </a:r>
            <a:endParaRPr lang="en-US" sz="1300" dirty="0"/>
          </a:p>
        </p:txBody>
      </p:sp>
      <p:sp>
        <p:nvSpPr>
          <p:cNvPr id="15" name="num4"/>
          <p:cNvSpPr/>
          <p:nvPr/>
        </p:nvSpPr>
        <p:spPr>
          <a:xfrm>
            <a:off x="457200" y="3703320"/>
            <a:ext cx="502920" cy="6858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7033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row4"/>
          <p:cNvSpPr/>
          <p:nvPr/>
        </p:nvSpPr>
        <p:spPr>
          <a:xfrm>
            <a:off x="960120" y="3703320"/>
            <a:ext cx="4069080" cy="685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97280" y="37033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the loop, print result, verify C[0] = 2.00</a:t>
            </a:r>
            <a:endParaRPr lang="en-US" sz="1300" dirty="0"/>
          </a:p>
        </p:txBody>
      </p:sp>
      <p:sp>
        <p:nvSpPr>
          <p:cNvPr id="19" name="codeBox"/>
          <p:cNvSpPr/>
          <p:nvPr/>
        </p:nvSpPr>
        <p:spPr>
          <a:xfrm>
            <a:off x="5303520" y="1234440"/>
            <a:ext cx="3383280" cy="2011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40680" y="13075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loop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1572768"/>
            <a:ext cx="3154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start = get_time();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(long i = 0; i &lt; N; i++)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C[i] = A[i] * B[i];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end = get_time();</a:t>
            </a:r>
            <a:endParaRPr lang="en-US" sz="1200" dirty="0"/>
          </a:p>
        </p:txBody>
      </p:sp>
      <p:sp>
        <p:nvSpPr>
          <p:cNvPr id="22" name="baselineBox"/>
          <p:cNvSpPr/>
          <p:nvPr/>
        </p:nvSpPr>
        <p:spPr>
          <a:xfrm>
            <a:off x="5303520" y="3429000"/>
            <a:ext cx="3383280" cy="10972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03520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0.692445 s</a:t>
            </a:r>
            <a:endParaRPr lang="en-US" sz="30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1 core, 100 M elements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Parallel Design with OpenMP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OpenMP: API for shared-memory multiprocessing in 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directive above the loop does the work:</a:t>
            </a:r>
            <a:endParaRPr lang="en-US" sz="1400" dirty="0"/>
          </a:p>
        </p:txBody>
      </p:sp>
      <p:sp>
        <p:nvSpPr>
          <p:cNvPr id="4" name="pragmaBox"/>
          <p:cNvSpPr/>
          <p:nvPr/>
        </p:nvSpPr>
        <p:spPr>
          <a:xfrm>
            <a:off x="457200" y="2148840"/>
            <a:ext cx="4114800" cy="5029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21488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#pragma omp parallel for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3464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are split into equal chunks automatically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threads share A, B and C: no message passing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thread writes different C[i], so no data races</a:t>
            </a:r>
            <a:endParaRPr lang="en-US" sz="1400" dirty="0"/>
          </a:p>
        </p:txBody>
      </p:sp>
      <p:sp>
        <p:nvSpPr>
          <p:cNvPr id="7" name="allIter"/>
          <p:cNvSpPr/>
          <p:nvPr/>
        </p:nvSpPr>
        <p:spPr>
          <a:xfrm>
            <a:off x="4846320" y="1234440"/>
            <a:ext cx="3840480" cy="4572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0" y="1234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100,000,000 iterations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719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10" name="thread0"/>
          <p:cNvSpPr/>
          <p:nvPr/>
        </p:nvSpPr>
        <p:spPr>
          <a:xfrm>
            <a:off x="4846320" y="2057400"/>
            <a:ext cx="905256" cy="1234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hreadHead0"/>
          <p:cNvSpPr/>
          <p:nvPr/>
        </p:nvSpPr>
        <p:spPr>
          <a:xfrm>
            <a:off x="4846320" y="2057400"/>
            <a:ext cx="905256" cy="320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0" y="205740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450592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907792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100" dirty="0"/>
          </a:p>
        </p:txBody>
      </p:sp>
      <p:sp>
        <p:nvSpPr>
          <p:cNvPr id="15" name="thread1"/>
          <p:cNvSpPr/>
          <p:nvPr/>
        </p:nvSpPr>
        <p:spPr>
          <a:xfrm>
            <a:off x="5824728" y="2057400"/>
            <a:ext cx="905256" cy="1234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hreadHead1"/>
          <p:cNvSpPr/>
          <p:nvPr/>
        </p:nvSpPr>
        <p:spPr>
          <a:xfrm>
            <a:off x="5824728" y="2057400"/>
            <a:ext cx="905256" cy="320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824728" y="205740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824728" y="2450592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907792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100" dirty="0"/>
          </a:p>
        </p:txBody>
      </p:sp>
      <p:sp>
        <p:nvSpPr>
          <p:cNvPr id="20" name="thread2"/>
          <p:cNvSpPr/>
          <p:nvPr/>
        </p:nvSpPr>
        <p:spPr>
          <a:xfrm>
            <a:off x="6803136" y="2057400"/>
            <a:ext cx="905256" cy="1234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hreadHead2"/>
          <p:cNvSpPr/>
          <p:nvPr/>
        </p:nvSpPr>
        <p:spPr>
          <a:xfrm>
            <a:off x="6803136" y="2057400"/>
            <a:ext cx="905256" cy="320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03136" y="205740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3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03136" y="2450592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803136" y="2907792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100" dirty="0"/>
          </a:p>
        </p:txBody>
      </p:sp>
      <p:sp>
        <p:nvSpPr>
          <p:cNvPr id="25" name="thread3"/>
          <p:cNvSpPr/>
          <p:nvPr/>
        </p:nvSpPr>
        <p:spPr>
          <a:xfrm>
            <a:off x="7781544" y="2057400"/>
            <a:ext cx="905256" cy="12344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hreadHead3"/>
          <p:cNvSpPr/>
          <p:nvPr/>
        </p:nvSpPr>
        <p:spPr>
          <a:xfrm>
            <a:off x="7781544" y="2057400"/>
            <a:ext cx="905256" cy="3200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81544" y="2057400"/>
            <a:ext cx="905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4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781544" y="2450592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7781544" y="2907792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846320" y="33101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31" name="sharedMem"/>
          <p:cNvSpPr/>
          <p:nvPr/>
        </p:nvSpPr>
        <p:spPr>
          <a:xfrm>
            <a:off x="4846320" y="3611880"/>
            <a:ext cx="3840480" cy="5486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46320" y="3611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memory: A, B (read)   C (write)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with 4 threads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Environment &amp; Data Strategy</a:t>
            </a:r>
            <a:endParaRPr lang="en-US" sz="2600" dirty="0"/>
          </a:p>
        </p:txBody>
      </p:sp>
      <p:sp>
        <p:nvSpPr>
          <p:cNvPr id="3" name="envCard"/>
          <p:cNvSpPr/>
          <p:nvPr/>
        </p:nvSpPr>
        <p:spPr>
          <a:xfrm>
            <a:off x="457200" y="1234440"/>
            <a:ext cx="4023360" cy="3291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10/11 with WSL2 (Ubuntu)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Compiler: GCC (build-essential)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library: OpenMP, built into GCC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Plots: Python 3, pandas, matplotlib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tested: 1, 2, 4, 6, 8, 16</a:t>
            </a:r>
            <a:endParaRPr lang="en-US" sz="1500" dirty="0"/>
          </a:p>
        </p:txBody>
      </p:sp>
      <p:sp>
        <p:nvSpPr>
          <p:cNvPr id="6" name="dataCard"/>
          <p:cNvSpPr/>
          <p:nvPr/>
        </p:nvSpPr>
        <p:spPr>
          <a:xfrm>
            <a:off x="4663440" y="1234440"/>
            <a:ext cx="4023360" cy="32918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generation strategy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 are generated in memory, inside the C code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1.0, B = 2.0, C = 0.0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hundreds of MB from a text or CSV file would take longer than the maths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I/O would skew timing and hide the OpenMP speedup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multiplication loop is timed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Source Code: Sequential vs OpenMP</a:t>
            </a:r>
            <a:endParaRPr lang="en-US" sz="2600" dirty="0"/>
          </a:p>
        </p:txBody>
      </p:sp>
      <p:sp>
        <p:nvSpPr>
          <p:cNvPr id="3" name="seqPanel"/>
          <p:cNvSpPr/>
          <p:nvPr/>
        </p:nvSpPr>
        <p:spPr>
          <a:xfrm>
            <a:off x="457200" y="1234440"/>
            <a:ext cx="4023360" cy="26974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3075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vector_mult_sequential.c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00200"/>
            <a:ext cx="3794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N 100000000L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*A = malloc(N*sizeof(double));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*B = malloc(N*sizeof(double));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*C = malloc(N*sizeof(double));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init: A=1.0  B=2.0  C=0.0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start = get_time();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(long i = 0; i &lt; N; i++)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C[i] = A[i] * B[i];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end = get_time();</a:t>
            </a:r>
            <a:endParaRPr lang="en-US" sz="1050" dirty="0"/>
          </a:p>
        </p:txBody>
      </p:sp>
      <p:sp>
        <p:nvSpPr>
          <p:cNvPr id="6" name="ompPanel"/>
          <p:cNvSpPr/>
          <p:nvPr/>
        </p:nvSpPr>
        <p:spPr>
          <a:xfrm>
            <a:off x="4663440" y="1234440"/>
            <a:ext cx="4023360" cy="26974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00600" y="13075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vector_mult_openmp.c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00200"/>
            <a:ext cx="37947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&amp;num_threads);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omp_set_num_threads(num_threads);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malloc + init: same as sequential */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start = omp_get_wtime();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#pragma omp parallel for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(long i = 0; i &lt; N; i++)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C[i] = A[i] * B[i];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8A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end = omp_get_wtime();</a:t>
            </a:r>
            <a:endParaRPr lang="en-US" sz="1050" dirty="0"/>
          </a:p>
        </p:txBody>
      </p:sp>
      <p:sp>
        <p:nvSpPr>
          <p:cNvPr id="9" name="diffBar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loop body. The only changes: thread count input, the pragma, and omp_get_wtime()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Compile &amp; Run: Sequential Baseline</a:t>
            </a:r>
            <a:endParaRPr lang="en-US" sz="2600" dirty="0"/>
          </a:p>
        </p:txBody>
      </p:sp>
      <p:sp>
        <p:nvSpPr>
          <p:cNvPr id="3" name="cmdBox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src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-O2 vector_mult_sequential.c -o vector_mult_sequential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./vector_mult_sequential</a:t>
            </a:r>
            <a:endParaRPr lang="en-US" sz="1200" dirty="0"/>
          </a:p>
        </p:txBody>
      </p:sp>
      <p:pic>
        <p:nvPicPr>
          <p:cNvPr id="5" name="seqOutput" descr="Terminal output of the sequential pro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0"/>
            <a:ext cx="8229600" cy="8037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31272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 of the sequential run</a:t>
            </a:r>
            <a:endParaRPr lang="en-US" sz="1000" dirty="0"/>
          </a:p>
        </p:txBody>
      </p:sp>
      <p:sp>
        <p:nvSpPr>
          <p:cNvPr id="7" name="chip0"/>
          <p:cNvSpPr/>
          <p:nvPr/>
        </p:nvSpPr>
        <p:spPr>
          <a:xfrm>
            <a:off x="457200" y="3520440"/>
            <a:ext cx="256032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-O2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087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compiler optimizations</a:t>
            </a:r>
            <a:endParaRPr lang="en-US" sz="1200" dirty="0"/>
          </a:p>
        </p:txBody>
      </p:sp>
      <p:sp>
        <p:nvSpPr>
          <p:cNvPr id="10" name="chip1"/>
          <p:cNvSpPr/>
          <p:nvPr/>
        </p:nvSpPr>
        <p:spPr>
          <a:xfrm>
            <a:off x="3291840" y="3520440"/>
            <a:ext cx="256032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2900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0.692445 s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429000" y="4087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time for 100 M elements</a:t>
            </a:r>
            <a:endParaRPr lang="en-US" sz="1200" dirty="0"/>
          </a:p>
        </p:txBody>
      </p:sp>
      <p:sp>
        <p:nvSpPr>
          <p:cNvPr id="13" name="chip2"/>
          <p:cNvSpPr/>
          <p:nvPr/>
        </p:nvSpPr>
        <p:spPr>
          <a:xfrm>
            <a:off x="6126480" y="3520440"/>
            <a:ext cx="2560320" cy="1005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63640" y="3566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C[0] = 2.00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40873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verified: 1.0 × 2.0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Compile &amp; Run: OpenMP Version</a:t>
            </a:r>
            <a:endParaRPr lang="en-US" sz="2600" dirty="0"/>
          </a:p>
        </p:txBody>
      </p:sp>
      <p:sp>
        <p:nvSpPr>
          <p:cNvPr id="3" name="cmdBox2"/>
          <p:cNvSpPr/>
          <p:nvPr/>
        </p:nvSpPr>
        <p:spPr>
          <a:xfrm>
            <a:off x="457200" y="1188720"/>
            <a:ext cx="8229600" cy="8686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gcc -O2 -fopenmp vector_mult_openmp.c -o vector_mult_openmp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./vector_mult_openmp        # asks: Enter number of threads</a:t>
            </a:r>
            <a:endParaRPr lang="en-US" sz="1200" dirty="0"/>
          </a:p>
        </p:txBody>
      </p:sp>
      <p:pic>
        <p:nvPicPr>
          <p:cNvPr id="5" name="omp1" descr="OpenMP runs with 2, 4 and 6 threa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40280"/>
            <a:ext cx="4023360" cy="1764792"/>
          </a:xfrm>
          <a:prstGeom prst="rect">
            <a:avLst/>
          </a:prstGeom>
        </p:spPr>
      </p:pic>
      <p:pic>
        <p:nvPicPr>
          <p:cNvPr id="6" name="omp2" descr="OpenMP runs with 8 and 16 threa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40280"/>
            <a:ext cx="4023360" cy="12252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40233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2, 4 and 6 threads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9300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8 and 16 threads</a:t>
            </a:r>
            <a:endParaRPr lang="en-US" sz="1000" dirty="0"/>
          </a:p>
        </p:txBody>
      </p:sp>
      <p:sp>
        <p:nvSpPr>
          <p:cNvPr id="9" name="ompNote"/>
          <p:cNvSpPr/>
          <p:nvPr/>
        </p:nvSpPr>
        <p:spPr>
          <a:xfrm>
            <a:off x="4663440" y="3794760"/>
            <a:ext cx="4023360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4800600" y="3794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-fopenmp enables the directives and links the OpenMP runtime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Execution Results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118872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(Sequential)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0.692445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0.246625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2.80×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0.126643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5.46×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0.118263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5.85×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1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0.137638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5.03×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0.133875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5.17×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C"/>
                    </a:solidFill>
                  </a:tcPr>
                </a:tc>
              </a:tr>
            </a:tbl>
          </a:graphicData>
        </a:graphic>
      </p:graphicFrame>
      <p:sp>
        <p:nvSpPr>
          <p:cNvPr id="4" name="speedupCard"/>
          <p:cNvSpPr/>
          <p:nvPr/>
        </p:nvSpPr>
        <p:spPr>
          <a:xfrm>
            <a:off x="6126480" y="1234440"/>
            <a:ext cx="2560320" cy="11887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263640" y="1298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T</a:t>
            </a:r>
            <a:pPr indent="0" marL="0">
              <a:buNone/>
            </a:pPr>
            <a:r>
              <a:rPr lang="en-US" sz="2000" b="1" baseline="-4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</a:t>
            </a:r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T</a:t>
            </a:r>
            <a:pPr indent="0" marL="0">
              <a:buNone/>
            </a:pPr>
            <a:r>
              <a:rPr lang="en-US" sz="2000" b="1" baseline="-40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faster</a:t>
            </a:r>
            <a:endParaRPr lang="en-US" sz="1100" dirty="0"/>
          </a:p>
        </p:txBody>
      </p:sp>
      <p:sp>
        <p:nvSpPr>
          <p:cNvPr id="8" name="effCard"/>
          <p:cNvSpPr/>
          <p:nvPr/>
        </p:nvSpPr>
        <p:spPr>
          <a:xfrm>
            <a:off x="6126480" y="2606040"/>
            <a:ext cx="2560320" cy="118872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63640" y="26700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2926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S / threads × 100%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263640" y="3383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each thread helps</a:t>
            </a:r>
            <a:endParaRPr lang="en-US" sz="1100" dirty="0"/>
          </a:p>
        </p:txBody>
      </p:sp>
      <p:sp>
        <p:nvSpPr>
          <p:cNvPr id="12" name="bestBar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6 threads, 0.118263 s, 5.85× speedup (0.69 s down to 0.12 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Performance Graphs</a:t>
            </a:r>
            <a:endParaRPr lang="en-US" sz="2600" dirty="0"/>
          </a:p>
        </p:txBody>
      </p:sp>
      <p:pic>
        <p:nvPicPr>
          <p:cNvPr id="3" name="graph0" descr="Execution time versus number of thread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34440"/>
            <a:ext cx="2651760" cy="1988820"/>
          </a:xfrm>
          <a:prstGeom prst="rect">
            <a:avLst/>
          </a:prstGeom>
        </p:spPr>
      </p:pic>
      <p:sp>
        <p:nvSpPr>
          <p:cNvPr id="4" name="graphFrame0"/>
          <p:cNvSpPr/>
          <p:nvPr/>
        </p:nvSpPr>
        <p:spPr>
          <a:xfrm>
            <a:off x="457200" y="1234440"/>
            <a:ext cx="2651760" cy="198882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630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fast, then flattens after 4 to 6 threads</a:t>
            </a:r>
            <a:endParaRPr lang="en-US" sz="1200" dirty="0"/>
          </a:p>
        </p:txBody>
      </p:sp>
      <p:pic>
        <p:nvPicPr>
          <p:cNvPr id="7" name="graph1" descr="Speedup versus number of thread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6120" y="1234440"/>
            <a:ext cx="2651760" cy="1988820"/>
          </a:xfrm>
          <a:prstGeom prst="rect">
            <a:avLst/>
          </a:prstGeom>
        </p:spPr>
      </p:pic>
      <p:sp>
        <p:nvSpPr>
          <p:cNvPr id="8" name="graphFrame1"/>
          <p:cNvSpPr/>
          <p:nvPr/>
        </p:nvSpPr>
        <p:spPr>
          <a:xfrm>
            <a:off x="3246120" y="1234440"/>
            <a:ext cx="2651760" cy="198882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24612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246120" y="3630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about 5.85× with 6 threads</a:t>
            </a:r>
            <a:endParaRPr lang="en-US" sz="1200" dirty="0"/>
          </a:p>
        </p:txBody>
      </p:sp>
      <p:pic>
        <p:nvPicPr>
          <p:cNvPr id="11" name="graph2" descr="Efficiency versus number of thread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35040" y="1234440"/>
            <a:ext cx="2651760" cy="1988820"/>
          </a:xfrm>
          <a:prstGeom prst="rect">
            <a:avLst/>
          </a:prstGeom>
        </p:spPr>
      </p:pic>
      <p:sp>
        <p:nvSpPr>
          <p:cNvPr id="12" name="graphFrame2"/>
          <p:cNvSpPr/>
          <p:nvPr/>
        </p:nvSpPr>
        <p:spPr>
          <a:xfrm>
            <a:off x="6035040" y="1234440"/>
            <a:ext cx="2651760" cy="1988820"/>
          </a:xfrm>
          <a:prstGeom prst="rect">
            <a:avLst/>
          </a:prstGeom>
          <a:ln w="12700">
            <a:solidFill>
              <a:schemeClr val="tx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03504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035040" y="3630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steeply beyond 6 threads</a:t>
            </a:r>
            <a:endParaRPr lang="en-US" sz="1200" dirty="0"/>
          </a:p>
        </p:txBody>
      </p:sp>
      <p:sp>
        <p:nvSpPr>
          <p:cNvPr id="15" name="graphNote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plot_performance.py (pandas + matplotlib) from results/performance.csv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Speedup vs Ideal &amp; Efficiency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18872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hartNote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594360" y="402336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Near-ideal up to 6 threads. After that the curve flattens and efficiency collapses to 32.3% at 16 threads.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Why Not a 16× Speedup?</a:t>
            </a:r>
            <a:endParaRPr lang="en-US" sz="2600" dirty="0"/>
          </a:p>
        </p:txBody>
      </p:sp>
      <p:sp>
        <p:nvSpPr>
          <p:cNvPr id="3" name="memCard"/>
          <p:cNvSpPr/>
          <p:nvPr/>
        </p:nvSpPr>
        <p:spPr>
          <a:xfrm>
            <a:off x="457200" y="1188720"/>
            <a:ext cx="4023360" cy="214884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Memory bandwidth bottleneck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64208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multiply is trivial; the cost is moving data to and from RAM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finish the maths faster than RAM can supply numbers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becomes memory bound: extra threads sit idle</a:t>
            </a:r>
            <a:endParaRPr lang="en-US" sz="1400" dirty="0"/>
          </a:p>
        </p:txBody>
      </p:sp>
      <p:sp>
        <p:nvSpPr>
          <p:cNvPr id="6" name="ovhCard"/>
          <p:cNvSpPr/>
          <p:nvPr/>
        </p:nvSpPr>
        <p:spPr>
          <a:xfrm>
            <a:off x="4663440" y="1188720"/>
            <a:ext cx="4023360" cy="21488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Thread management overhead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64208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must create, schedule and synchronize threads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task of about 0.1 s, managing 16 threads costs as much as it saves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Amdahl's Law: diminishing returns, 8 to 16 threads gave no gain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456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Approx. effective memory bandwidth (about 2.4 GB moved ÷ run time, our estimate)</a:t>
            </a:r>
            <a:endParaRPr lang="en-US" sz="1200" dirty="0"/>
          </a:p>
        </p:txBody>
      </p:sp>
      <p:sp>
        <p:nvSpPr>
          <p:cNvPr id="10" name="bw0"/>
          <p:cNvSpPr/>
          <p:nvPr/>
        </p:nvSpPr>
        <p:spPr>
          <a:xfrm>
            <a:off x="457200" y="3794760"/>
            <a:ext cx="1280160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8221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GB/s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thread</a:t>
            </a:r>
            <a:endParaRPr lang="en-US" sz="1100" dirty="0"/>
          </a:p>
        </p:txBody>
      </p:sp>
      <p:sp>
        <p:nvSpPr>
          <p:cNvPr id="13" name="bw1"/>
          <p:cNvSpPr/>
          <p:nvPr/>
        </p:nvSpPr>
        <p:spPr>
          <a:xfrm>
            <a:off x="1828800" y="3794760"/>
            <a:ext cx="1280160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828800" y="38221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 GB/s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threads</a:t>
            </a:r>
            <a:endParaRPr lang="en-US" sz="1100" dirty="0"/>
          </a:p>
        </p:txBody>
      </p:sp>
      <p:sp>
        <p:nvSpPr>
          <p:cNvPr id="16" name="bw2"/>
          <p:cNvSpPr/>
          <p:nvPr/>
        </p:nvSpPr>
        <p:spPr>
          <a:xfrm>
            <a:off x="3200400" y="3794760"/>
            <a:ext cx="1280160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00400" y="38221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 GB/s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threads</a:t>
            </a:r>
            <a:endParaRPr lang="en-US" sz="1100" dirty="0"/>
          </a:p>
        </p:txBody>
      </p:sp>
      <p:sp>
        <p:nvSpPr>
          <p:cNvPr id="19" name="bw3"/>
          <p:cNvSpPr/>
          <p:nvPr/>
        </p:nvSpPr>
        <p:spPr>
          <a:xfrm>
            <a:off x="4572000" y="3794760"/>
            <a:ext cx="1280160" cy="7772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0" y="38221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20.3 GB/s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threads</a:t>
            </a:r>
            <a:endParaRPr lang="en-US" sz="1100" dirty="0"/>
          </a:p>
        </p:txBody>
      </p:sp>
      <p:sp>
        <p:nvSpPr>
          <p:cNvPr id="22" name="bw4"/>
          <p:cNvSpPr/>
          <p:nvPr/>
        </p:nvSpPr>
        <p:spPr>
          <a:xfrm>
            <a:off x="5943600" y="3794760"/>
            <a:ext cx="1280160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0" y="38221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17.4 GB/s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threads</a:t>
            </a:r>
            <a:endParaRPr lang="en-US" sz="1100" dirty="0"/>
          </a:p>
        </p:txBody>
      </p:sp>
      <p:sp>
        <p:nvSpPr>
          <p:cNvPr id="25" name="bw5"/>
          <p:cNvSpPr/>
          <p:nvPr/>
        </p:nvSpPr>
        <p:spPr>
          <a:xfrm>
            <a:off x="7315200" y="3794760"/>
            <a:ext cx="1280160" cy="77724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382219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 GB/s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2793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threads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5" type="title" hasCustomPrompt="1"/>
          </p:nvPr>
        </p:nvSpPr>
        <p:spPr>
          <a:xfrm>
            <a:off x="457200" y="2743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</a:rPr>
              <a:t>Conclusion &amp; Future Scope</a:t>
            </a:r>
            <a:endParaRPr lang="en-US" sz="2600" dirty="0"/>
          </a:p>
        </p:txBody>
      </p:sp>
      <p:sp>
        <p:nvSpPr>
          <p:cNvPr id="3" name="achCard"/>
          <p:cNvSpPr/>
          <p:nvPr/>
        </p:nvSpPr>
        <p:spPr>
          <a:xfrm>
            <a:off x="457200" y="1188720"/>
            <a:ext cx="4023360" cy="338328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19072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pragma cut runtime from 0.69 s to 0.12 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speedup 5.85× with 6 threads (97.5% efficiency)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falls fast up to 4 threads, then flattens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bandwidth and thread overhead limit scaling (Amdahl's Law)</a:t>
            </a:r>
            <a:endParaRPr lang="en-US" sz="1500" dirty="0"/>
          </a:p>
        </p:txBody>
      </p:sp>
      <p:sp>
        <p:nvSpPr>
          <p:cNvPr id="6" name="futCard"/>
          <p:cNvSpPr/>
          <p:nvPr/>
        </p:nvSpPr>
        <p:spPr>
          <a:xfrm>
            <a:off x="4663440" y="1188720"/>
            <a:ext cx="4023360" cy="3383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19072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each run and average to reduce timing noise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schedule(static / dynamic) and thread pinning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SIMD vectorization on top of threads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a GPU (CUDA) or MPI version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 CPU with more memory channels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46320"/>
            <a:ext cx="457200" cy="2971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88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4" name="endRule"/>
          <p:cNvSpPr/>
          <p:nvPr/>
        </p:nvSpPr>
        <p:spPr>
          <a:xfrm>
            <a:off x="822960" y="2103120"/>
            <a:ext cx="1097280" cy="640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90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per vector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5.85×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990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speedup, 6 threads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423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 s → 0.12 s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990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95020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Yashwanth Reddy   |   Yash Raj   |   Abhinav Raj   |   Sushilendr Ekbote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 Computer Science (AI)  |  KLE Technological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E Red Black White">
  <a:themeElements>
    <a:clrScheme name="KLE Red Black White">
      <a:dk1>
        <a:srgbClr val="111111"/>
      </a:dk1>
      <a:lt1>
        <a:srgbClr val="FFFFFF"/>
      </a:lt1>
      <a:dk2>
        <a:srgbClr val="444444"/>
      </a:dk2>
      <a:lt2>
        <a:srgbClr val="FBE9EC"/>
      </a:lt2>
      <a:accent1>
        <a:srgbClr val="C8102E"/>
      </a:accent1>
      <a:accent2>
        <a:srgbClr val="111111"/>
      </a:accent2>
      <a:accent3>
        <a:srgbClr val="666666"/>
      </a:accent3>
      <a:accent4>
        <a:srgbClr val="BBBBBB"/>
      </a:accent4>
      <a:accent5>
        <a:srgbClr val="F2F2F2"/>
      </a:accent5>
      <a:accent6>
        <a:srgbClr val="8E0B21"/>
      </a:accent6>
      <a:hlink>
        <a:srgbClr val="C8102E"/>
      </a:hlink>
      <a:folHlink>
        <a:srgbClr val="8E0B21"/>
      </a:folHlink>
    </a:clrScheme>
    <a:fontScheme name="KLE Red Black Whi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Vector Multiplication using OpenMP</dc:title>
  <dc:subject>PptxGenJS Presentation</dc:subject>
  <dc:creator>Yashwanth Reddy, Yash Raj, Abhinav Raj, Sushilendr Ekbote</dc:creator>
  <cp:lastModifiedBy>Yashwanth Reddy, Yash Raj, Abhinav Raj, Sushilendr Ekbote</cp:lastModifiedBy>
  <cp:revision>1</cp:revision>
  <dcterms:created xsi:type="dcterms:W3CDTF">2026-10-11T17:40:45Z</dcterms:created>
  <dcterms:modified xsi:type="dcterms:W3CDTF">2026-10-11T17:40:45Z</dcterms:modified>
</cp:coreProperties>
</file>